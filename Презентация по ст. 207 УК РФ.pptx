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65" r:id="rId6"/>
    <p:sldId id="266" r:id="rId7"/>
    <p:sldId id="267" r:id="rId8"/>
    <p:sldId id="268" r:id="rId9"/>
    <p:sldId id="269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34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42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4468F-6682-48AA-B5F4-BEF8E7F9833C}" type="datetimeFigureOut">
              <a:rPr lang="ru-RU" smtClean="0"/>
              <a:t>ср 15.10.25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39365" y="384493"/>
            <a:ext cx="9144000" cy="2387600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 Заведомо ложное сообщение об акте терроризма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181600"/>
            <a:ext cx="76200" cy="76200"/>
          </a:xfrm>
        </p:spPr>
        <p:txBody>
          <a:bodyPr>
            <a:normAutofit fontScale="25000" lnSpcReduction="20000"/>
          </a:bodyPr>
          <a:lstStyle/>
          <a:p>
            <a:r>
              <a:rPr lang="ru-RU" altLang="en-US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77003">
            <a:off x="1182210" y="3467311"/>
            <a:ext cx="2130397" cy="29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Уголовный кодекс РФ. Статья 207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19455" y="1382395"/>
            <a:ext cx="7445375" cy="52368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altLang="en-US" sz="3200" dirty="0">
              <a:latin typeface="Times New Roman" panose="02020603050405020304" charset="0"/>
            </a:endParaRPr>
          </a:p>
          <a:p>
            <a:pPr marL="0" indent="0" algn="l">
              <a:buNone/>
            </a:pPr>
            <a:r>
              <a:rPr lang="ru-RU" altLang="en-US" sz="3200" dirty="0">
                <a:latin typeface="Times New Roman" panose="02020603050405020304" charset="0"/>
              </a:rPr>
              <a:t>Часть 1.</a:t>
            </a:r>
          </a:p>
          <a:p>
            <a:pPr marL="0" indent="0" algn="l">
              <a:buNone/>
            </a:pPr>
            <a:r>
              <a:rPr lang="ru-RU" altLang="en-US" sz="3200" dirty="0">
                <a:latin typeface="Times New Roman" panose="02020603050405020304" charset="0"/>
              </a:rPr>
              <a:t>Заведомо ложное сообщение о готовящемся взрыве, поджоге или иных действиях, создающих опасность гибели людей, причинение значительного имущественного ущерба либо наступления иных общественно опасных последствий, совершенное из хулиганских побуждений наказывается: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575" y="1481107"/>
            <a:ext cx="3513018" cy="4850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Наказание за заведомо ложное сообщение об акте терроризма по части первой: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Штраф- от 200 000 до 500 000 рублей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 в размере заработной платы или иного дохода за период от одного года до 18 месяцев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Ограничение свободы на срок до 3 лет 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Принудительные работы на срок от 2 до 3 лет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Уголовный кодекс РФ. Статья 207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954672" cy="4351338"/>
          </a:xfrm>
        </p:spPr>
        <p:txBody>
          <a:bodyPr/>
          <a:lstStyle/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Часть 2.</a:t>
            </a:r>
          </a:p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Деяние, предусмотренное часть первой, совершенное в отношении объектов социальной инфраструктуры либо повлекшее причинение крупного ущерба наказывается: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652" y="1502183"/>
            <a:ext cx="3620140" cy="499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1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Наказание за заведомо ложное сообщение об акте терроризма по части второй: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Штраф- от 500 000 до 700 000 рублей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 в размере заработной платы или иного дохода за период от одного года до двух лет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Лишение свободы на срок от 3 до 5 лет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926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Уголовный кодекс РФ. Статья 207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036558" cy="4351338"/>
          </a:xfrm>
        </p:spPr>
        <p:txBody>
          <a:bodyPr/>
          <a:lstStyle/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Часть 3.</a:t>
            </a:r>
          </a:p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Заведомо ложное сообщение о готовящемся взрыве, поджоге или иных действиях, создающих опасность гибели людей, причинение значительного имущественного ущерба либо наступления иных общественно опасных последствий в целях дестабилизации деятельности органов власти наказывается: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575" y="1481107"/>
            <a:ext cx="3513018" cy="48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Наказание за заведомо ложное сообщение об акте терроризма по части третьей: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Штраф- от 700 000 до 1 000 000 рублей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 в размере заработной платы или иного дохода за период от одного года до трех лет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Лишение свободы на срок от 6 до 8 лет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773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Уголовный кодекс РФ. Статья 207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818194" cy="4351338"/>
          </a:xfrm>
        </p:spPr>
        <p:txBody>
          <a:bodyPr/>
          <a:lstStyle/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Часть 4.</a:t>
            </a:r>
          </a:p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Деяния, предусмотренные частями первой, второй или третьей, повлекшие по неосторожности смерть человека или иные тяжкие последствия наказывается: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652" y="1502183"/>
            <a:ext cx="3620140" cy="499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Наказание за заведомо ложное сообщение об акте терроризма по части четвертой: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Штраф- от 1 500 000 до 2 000 000 рублей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Штраф в размере заработной платы или иного дохода за период от двух до трех лет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Лишение свободы на срок от 8 до 10 лет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550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Общественная опасность преступления</a:t>
            </a:r>
            <a:r>
              <a:rPr lang="ru-RU" altLang="en-US">
                <a:sym typeface="+mn-ea"/>
              </a:rPr>
              <a:t>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6430" y="125349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altLang="en-US" dirty="0"/>
          </a:p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Заведомо ложное сообщение: 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нарушает нормальный ритм жизни общества и государства;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вносит элементы дезорганизации в деятельность детских садов, школ, техникумов, институтов, предприятий, учреждений;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 dirty="0">
                <a:latin typeface="Times New Roman" panose="02020603050405020304" charset="0"/>
              </a:rPr>
              <a:t>нарушает работу транспорта; порождает ложные слухи, панику среди населения.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ru-RU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Последствия совершенного деяния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24815" y="125349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altLang="en-US"/>
          </a:p>
          <a:p>
            <a:pPr>
              <a:buFont typeface="Wingdings" panose="05000000000000000000" charset="0"/>
              <a:buChar char=""/>
            </a:pPr>
            <a:r>
              <a:rPr lang="ru-RU" altLang="en-US">
                <a:latin typeface="Times New Roman" panose="02020603050405020304" charset="0"/>
              </a:rPr>
              <a:t>создание экстремальной ситуации в связи с введением в действие соответствующих сил и средств по предупреждению и установлению последствий актов терроризма; 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>
                <a:latin typeface="Times New Roman" panose="02020603050405020304" charset="0"/>
              </a:rPr>
              <a:t>отвлекает определенные силы правоохранительных органов от выполнения своих прямых обязанностей; </a:t>
            </a:r>
          </a:p>
          <a:p>
            <a:pPr>
              <a:buFont typeface="Wingdings" panose="05000000000000000000" charset="0"/>
              <a:buChar char=""/>
            </a:pPr>
            <a:r>
              <a:rPr lang="ru-RU" altLang="en-US">
                <a:latin typeface="Times New Roman" panose="02020603050405020304" charset="0"/>
              </a:rPr>
              <a:t>сопряжено с ограничением прав личности; связано с причинением значительного материального ущерба.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</a:rPr>
              <a:t>ПОМНИ!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655"/>
          </a:xfrm>
        </p:spPr>
        <p:txBody>
          <a:bodyPr/>
          <a:lstStyle/>
          <a:p>
            <a:pPr marL="0" indent="0">
              <a:buNone/>
            </a:pPr>
            <a:r>
              <a:rPr lang="ru-RU" altLang="en-US" dirty="0">
                <a:latin typeface="Times New Roman" panose="02020603050405020304" charset="0"/>
              </a:rPr>
              <a:t>Сообщив заведомо ложную информацию, кто-то не получит действительно нужную помощь , так как сотрудники различных ведомств будут задействованы на ложном вызове.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r>
              <a:rPr lang="ru-RU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Заведомо ложным сообщением считаются сведения: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"/>
            </a:pPr>
            <a:r>
              <a:rPr lang="ru-RU" altLang="en-US"/>
              <a:t> о готовящемся взрыве; </a:t>
            </a:r>
          </a:p>
          <a:p>
            <a:pPr marL="0" indent="0">
              <a:buFont typeface="Wingdings" panose="05000000000000000000" charset="0"/>
              <a:buNone/>
            </a:pPr>
            <a:endParaRPr lang="ru-RU" altLang="en-US"/>
          </a:p>
          <a:p>
            <a:pPr marL="0" indent="0">
              <a:buFont typeface="Wingdings" panose="05000000000000000000" charset="0"/>
              <a:buNone/>
            </a:pPr>
            <a:endParaRPr lang="ru-RU" altLang="en-US"/>
          </a:p>
          <a:p>
            <a:pPr>
              <a:buFont typeface="Wingdings" panose="05000000000000000000" charset="0"/>
              <a:buChar char=""/>
            </a:pPr>
            <a:r>
              <a:rPr lang="ru-RU" altLang="en-US"/>
              <a:t>поджоге; </a:t>
            </a:r>
          </a:p>
          <a:p>
            <a:pPr marL="0" indent="0">
              <a:buFont typeface="Wingdings" panose="05000000000000000000" charset="0"/>
              <a:buNone/>
            </a:pPr>
            <a:endParaRPr lang="ru-RU" altLang="en-US"/>
          </a:p>
          <a:p>
            <a:pPr marL="0" indent="0">
              <a:buFont typeface="Wingdings" panose="05000000000000000000" charset="0"/>
              <a:buNone/>
            </a:pPr>
            <a:endParaRPr lang="ru-RU" altLang="en-US"/>
          </a:p>
          <a:p>
            <a:pPr>
              <a:buFont typeface="Wingdings" panose="05000000000000000000" charset="0"/>
              <a:buChar char=""/>
            </a:pPr>
            <a:r>
              <a:rPr lang="ru-RU" altLang="en-US"/>
              <a:t>или иные действия создающие опасность гибели людей </a:t>
            </a:r>
          </a:p>
        </p:txBody>
      </p:sp>
      <p:pic>
        <p:nvPicPr>
          <p:cNvPr id="4" name="Изображение 3" descr="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230" y="1403350"/>
            <a:ext cx="2162175" cy="2162175"/>
          </a:xfrm>
          <a:prstGeom prst="rect">
            <a:avLst/>
          </a:prstGeom>
        </p:spPr>
      </p:pic>
      <p:pic>
        <p:nvPicPr>
          <p:cNvPr id="5" name="Изображение 4" descr="pict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485" y="2613025"/>
            <a:ext cx="1985010" cy="1632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480</Words>
  <Application>Microsoft Office PowerPoint</Application>
  <PresentationFormat>Широкоэкранный</PresentationFormat>
  <Paragraphs>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Тема Office</vt:lpstr>
      <vt:lpstr> Заведомо ложное сообщение об акте терроризма</vt:lpstr>
      <vt:lpstr>Уголовный кодекс РФ. Статья 207</vt:lpstr>
      <vt:lpstr>Наказание за заведомо ложное сообщение об акте терроризма по части первой:</vt:lpstr>
      <vt:lpstr>Уголовный кодекс РФ. Статья 207</vt:lpstr>
      <vt:lpstr>Наказание за заведомо ложное сообщение об акте терроризма по части второй:</vt:lpstr>
      <vt:lpstr>Уголовный кодекс РФ. Статья 207</vt:lpstr>
      <vt:lpstr>Наказание за заведомо ложное сообщение об акте терроризма по части третьей:</vt:lpstr>
      <vt:lpstr>Уголовный кодекс РФ. Статья 207</vt:lpstr>
      <vt:lpstr>Наказание за заведомо ложное сообщение об акте терроризма по части четвертой:</vt:lpstr>
      <vt:lpstr>Общественная опасность преступления </vt:lpstr>
      <vt:lpstr>Последствия совершенного деяния </vt:lpstr>
      <vt:lpstr>ПОМНИ!</vt:lpstr>
      <vt:lpstr>Заведомо ложным сообщением считаются сведения: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Классный час  «Заведомо ложное сообщение об акте терроризма»</dc:title>
  <dc:creator>hp</dc:creator>
  <cp:lastModifiedBy>Кутищева Екатерина</cp:lastModifiedBy>
  <cp:revision>9</cp:revision>
  <dcterms:created xsi:type="dcterms:W3CDTF">2018-09-30T19:48:34Z</dcterms:created>
  <dcterms:modified xsi:type="dcterms:W3CDTF">2025-10-15T10:19:45Z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1049-10.2.0.6020</vt:lpwstr>
  </property>
</Properties>
</file>