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9A520ED-2BE7-407F-8E69-5F8D7A380BB0}">
          <p14:sldIdLst>
            <p14:sldId id="256"/>
            <p14:sldId id="263"/>
            <p14:sldId id="257"/>
            <p14:sldId id="258"/>
            <p14:sldId id="259"/>
            <p14:sldId id="260"/>
            <p14:sldId id="261"/>
            <p14:sldId id="264"/>
            <p14:sldId id="262"/>
            <p14:sldId id="266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25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89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4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13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55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18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2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91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37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51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522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3894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89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118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58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02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431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93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21F9BB5-61ED-4EF9-80DC-924FFF841395}" type="datetimeFigureOut">
              <a:rPr lang="ru-RU" smtClean="0"/>
              <a:t>пт 05.12.25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856898-2343-4945-BA63-82E2C8D4F9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36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6" y="188640"/>
            <a:ext cx="7406640" cy="1472184"/>
          </a:xfrm>
        </p:spPr>
        <p:txBody>
          <a:bodyPr/>
          <a:lstStyle/>
          <a:p>
            <a:pPr algn="ctr"/>
            <a:r>
              <a:rPr lang="ru-RU" dirty="0"/>
              <a:t>Комендантский час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104596-64DD-401D-8907-45EF9D3B8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935375"/>
            <a:ext cx="6335533" cy="473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7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1844824"/>
            <a:ext cx="86032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Arial" pitchFamily="34" charset="0"/>
                <a:cs typeface="Arial" pitchFamily="34" charset="0"/>
              </a:rPr>
              <a:t> 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Запрет на нахождение на улицах и в общественных местах в определённое время суток лицам, не имеющим соответствующего разрешения, с целью установления и поддержания порядка, уменьшения количества жертв во время  чрезвычайного положения, в военное время. За соблюдением запрета следят специально выделенные для этой цели подразделения войск или полиции государства.</a:t>
            </a: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1295636" y="296652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187624" y="409228"/>
            <a:ext cx="6408712" cy="1143000"/>
          </a:xfrm>
        </p:spPr>
        <p:txBody>
          <a:bodyPr>
            <a:normAutofit/>
          </a:bodyPr>
          <a:lstStyle/>
          <a:p>
            <a:pPr algn="ctr"/>
            <a:r>
              <a:rPr lang="vi-VN" sz="3200" dirty="0">
                <a:latin typeface="Arial" pitchFamily="34" charset="0"/>
                <a:cs typeface="Arial" pitchFamily="34" charset="0"/>
              </a:rPr>
              <a:t>Коменда́нтский час (запретное время)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78621"/>
            <a:ext cx="4593704" cy="3127547"/>
          </a:xfrm>
        </p:spPr>
      </p:pic>
      <p:sp>
        <p:nvSpPr>
          <p:cNvPr id="5" name="Прямоугольник 4"/>
          <p:cNvSpPr/>
          <p:nvPr/>
        </p:nvSpPr>
        <p:spPr>
          <a:xfrm>
            <a:off x="3491880" y="3789040"/>
            <a:ext cx="2059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 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4441244"/>
            <a:ext cx="8640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2009 году Президент РФ Дмитрий Медведев утвердил поправки в федеральный закон  № 124 «Об основных гарантиях прав ребенка в РФ», который ограничивает пребывание несовершеннолетних в общественных местах поздно вечером и ночью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62083" y="3796052"/>
            <a:ext cx="292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апреля 2009 года</a:t>
            </a:r>
          </a:p>
        </p:txBody>
      </p:sp>
    </p:spTree>
    <p:extLst>
      <p:ext uri="{BB962C8B-B14F-4D97-AF65-F5344CB8AC3E}">
        <p14:creationId xmlns:p14="http://schemas.microsoft.com/office/powerpoint/2010/main" val="240461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Блок-схема: альтернативный процесс 4"/>
          <p:cNvSpPr/>
          <p:nvPr/>
        </p:nvSpPr>
        <p:spPr>
          <a:xfrm>
            <a:off x="1835696" y="296652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96552" y="409228"/>
            <a:ext cx="10378400" cy="1143000"/>
          </a:xfr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Требования: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856" y="2132856"/>
            <a:ext cx="7660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появляться на улицах или в местах, предназначенных для проведения досуга или развлечений, после определённого времени, установленного в требованиях властей.</a:t>
            </a:r>
          </a:p>
          <a:p>
            <a:pPr algn="just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Лица, не достигшие 18-летнего возраста, не имеют права находиться в местах реализации алкогольных продуктов без сопровождения старших.</a:t>
            </a:r>
          </a:p>
          <a:p>
            <a:pPr algn="just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дети до 7 лет имеют право находиться в местах большого скопления людей исключительно в сопровождении взрослых, уполномоченных для опеки над ними.</a:t>
            </a:r>
          </a:p>
          <a:p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58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Блок-схема: альтернативный процесс 4"/>
          <p:cNvSpPr/>
          <p:nvPr/>
        </p:nvSpPr>
        <p:spPr>
          <a:xfrm>
            <a:off x="1835696" y="116632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3020" y="275271"/>
            <a:ext cx="7498080" cy="1143000"/>
          </a:xfr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Требования: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8530" y="1565971"/>
            <a:ext cx="79759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Органы местного самоуправления в каждом регионе страны имеют привилегии самостоятельно определять условия комендантского часа на территории. Данная ситуация связана с обострением конкретных проблем в данной местности, а также с напряжённостью в сфере криминогенной обстановки, что в свою очередь напрямую зависит от стабильности экономической ситуации.</a:t>
            </a:r>
          </a:p>
          <a:p>
            <a:pPr algn="just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Нарушение правил влечёт за собой административную ответственность в виде штрафа или иного дисциплинарного воздействия в зависимости от тяжести последствий игнорирования закона.</a:t>
            </a:r>
          </a:p>
          <a:p>
            <a:pPr algn="just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исполнением требований законодательства следят правоохранительные органы, патрулирующие улицы города.</a:t>
            </a:r>
          </a:p>
        </p:txBody>
      </p:sp>
    </p:spTree>
    <p:extLst>
      <p:ext uri="{BB962C8B-B14F-4D97-AF65-F5344CB8AC3E}">
        <p14:creationId xmlns:p14="http://schemas.microsoft.com/office/powerpoint/2010/main" val="155375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259631" y="296652"/>
            <a:ext cx="7745673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-1044624" y="296652"/>
            <a:ext cx="11484768" cy="171906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Arial" pitchFamily="34" charset="0"/>
                <a:cs typeface="Arial" pitchFamily="34" charset="0"/>
              </a:rPr>
              <a:t>Комендантский час применительно</a:t>
            </a:r>
            <a:br>
              <a:rPr lang="ru-RU" sz="2400" dirty="0">
                <a:latin typeface="Arial" pitchFamily="34" charset="0"/>
                <a:cs typeface="Arial" pitchFamily="34" charset="0"/>
              </a:rPr>
            </a:br>
            <a:r>
              <a:rPr lang="ru-RU" sz="2400" dirty="0">
                <a:latin typeface="Arial" pitchFamily="34" charset="0"/>
                <a:cs typeface="Arial" pitchFamily="34" charset="0"/>
              </a:rPr>
              <a:t> к несовершеннолетним</a:t>
            </a:r>
            <a:br>
              <a:rPr lang="ru-RU" dirty="0">
                <a:latin typeface="Arial" pitchFamily="34" charset="0"/>
                <a:cs typeface="Arial" pitchFamily="34" charset="0"/>
              </a:rPr>
            </a:b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9630" y="2122851"/>
            <a:ext cx="75608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подростки обязаны подчиняться действующему закону, устанавливающему комендантский час, и если для остальных граждан он действует лишь определённый период времени, для несовершеннолетних лиц данный запрет введён на постоянной основе.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220307"/>
            <a:ext cx="4572000" cy="26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7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187624" y="404664"/>
            <a:ext cx="7416824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-108520" y="619394"/>
            <a:ext cx="10620672" cy="1368152"/>
          </a:xfrm>
        </p:spPr>
        <p:txBody>
          <a:bodyPr>
            <a:noAutofit/>
          </a:bodyPr>
          <a:lstStyle/>
          <a:p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Кто имеет право выступать в</a:t>
            </a:r>
            <a:b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качестве сопровождающих</a:t>
            </a:r>
            <a:br>
              <a:rPr lang="ru-RU" sz="2800" dirty="0">
                <a:effectLst/>
              </a:rPr>
            </a:br>
            <a:br>
              <a:rPr lang="ru-RU" sz="2800" dirty="0">
                <a:latin typeface="Arial" pitchFamily="34" charset="0"/>
                <a:cs typeface="Arial" pitchFamily="34" charset="0"/>
              </a:rPr>
            </a:br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8850" y="2060848"/>
            <a:ext cx="78843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Родители ребёнка или один из них.</a:t>
            </a:r>
          </a:p>
          <a:p>
            <a:pPr marL="342900" indent="-342900" fontAlgn="base">
              <a:buFont typeface="Wingdings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Официальные опекуны, наделённые законными полномочиями на осуществление родительских прав и обязанностей.</a:t>
            </a:r>
          </a:p>
          <a:p>
            <a:pPr marL="342900" indent="-342900" fontAlgn="base">
              <a:buFont typeface="Wingdings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Попечители, усыновители, а также официальные уполномоченные служащие заведений, предназначенных для длительного или кратковременного пребывания детей и подростков, а именно – школы, ВУЗы, колледжи, детские лагеря и т. д.</a:t>
            </a:r>
          </a:p>
          <a:p>
            <a:pPr marL="342900" indent="-342900" fontAlgn="base">
              <a:buFont typeface="Wingdings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Представители органов опеки и попечительства.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95801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475656" y="296652"/>
            <a:ext cx="7416824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472786" y="928016"/>
            <a:ext cx="9036496" cy="862801"/>
          </a:xfrm>
        </p:spPr>
        <p:txBody>
          <a:bodyPr>
            <a:normAutofit fontScale="90000"/>
          </a:bodyPr>
          <a:lstStyle/>
          <a:p>
            <a: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Кто имеет право выступать</a:t>
            </a:r>
            <a:b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в качестве сопровождающих</a:t>
            </a:r>
            <a:br>
              <a:rPr lang="ru-RU" dirty="0">
                <a:effectLst/>
              </a:rPr>
            </a:br>
            <a:br>
              <a:rPr lang="ru-RU" dirty="0">
                <a:latin typeface="Arial" pitchFamily="34" charset="0"/>
                <a:cs typeface="Arial" pitchFamily="34" charset="0"/>
              </a:rPr>
            </a:b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8850" y="1916831"/>
            <a:ext cx="78843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Органы, осуществляющие выездные мероприятия, направленные на поддержание здравоохранения молодёжи.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службы, различные реабилитационные учреждения (в том числе и санатории), лагеря труда и отдыха при школах или иных учреждениях, спортивные школы, проводящие выездные соревнования, однако в таких случаях организаторы мероприятия пользуются заказным транспортом.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Иные лица и представители организаций, наделённые постоянными или временными полномочиями на осуществление воспитательной и профилактической работы с младшим поколением.</a:t>
            </a:r>
          </a:p>
          <a:p>
            <a:pPr marL="342900" indent="-342900" fontAlgn="base">
              <a:buFont typeface="Wingdings" pitchFamily="2" charset="2"/>
              <a:buChar char="Ø"/>
            </a:pPr>
            <a:endParaRPr lang="ru-RU" sz="2000" b="1" dirty="0">
              <a:latin typeface="Arial" pitchFamily="34" charset="0"/>
              <a:cs typeface="Arial" pitchFamily="34" charset="0"/>
            </a:endParaRPr>
          </a:p>
          <a:p>
            <a:pPr marL="342900" indent="-342900" fontAlgn="base">
              <a:buFont typeface="Wingdings" pitchFamily="2" charset="2"/>
              <a:buChar char="Ø"/>
            </a:pPr>
            <a:endParaRPr lang="ru-RU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2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619672" y="296652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755576" y="908720"/>
            <a:ext cx="9036496" cy="862801"/>
          </a:xfrm>
        </p:spPr>
        <p:txBody>
          <a:bodyPr>
            <a:noAutofit/>
          </a:bodyPr>
          <a:lstStyle/>
          <a:p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За нарушение запрета</a:t>
            </a:r>
            <a:b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ru-RU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ru-RU" sz="32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9612" y="2276872"/>
            <a:ext cx="76328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случае, если несовершеннолетний оказался старше 16 лет, на него лично будет наложен штраф в размере от 100 до 500 рублей.</a:t>
            </a:r>
          </a:p>
          <a:p>
            <a:pPr marL="342900" indent="-342900" algn="just" fontAlgn="base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тех ситуациях, когда подросток, оказавшийся в запретное время на улице без родителей, попался на глаза правоохранителям, его препроводят в участок, где вызовут его опекунов на профилактическую беседу и выпишут тот же самый штраф.</a:t>
            </a:r>
          </a:p>
          <a:p>
            <a:pPr marL="342900" indent="-342900">
              <a:buFont typeface="Wingdings" pitchFamily="2" charset="2"/>
              <a:buChar char="Ø"/>
            </a:pPr>
            <a:endParaRPr lang="ru-RU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33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619672" y="296652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377788" y="955230"/>
            <a:ext cx="9036496" cy="862801"/>
          </a:xfrm>
        </p:spPr>
        <p:txBody>
          <a:bodyPr>
            <a:noAutofit/>
          </a:bodyPr>
          <a:lstStyle/>
          <a:p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За нарушение запрета</a:t>
            </a:r>
            <a:b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ru-RU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ru-RU" sz="32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9218" y="1844824"/>
            <a:ext cx="76328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за нарушением данного запрета будет стоять юридическое лицо или его ответственные представители, в том числе и служащие различных госструктур, сумма наказания может составить уже от 10,0 до 50,0 тыс. руб. в зависимости от времени суток, региона совершения правонарушения и деятельности, которую вели подростки в запрещённое время.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040" y="4221088"/>
            <a:ext cx="3737992" cy="233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02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589278" y="332656"/>
            <a:ext cx="6552728" cy="1368152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455038" y="982023"/>
            <a:ext cx="9036496" cy="862801"/>
          </a:xfrm>
        </p:spPr>
        <p:txBody>
          <a:bodyPr>
            <a:noAutofit/>
          </a:bodyPr>
          <a:lstStyle/>
          <a:p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За нарушение запрета</a:t>
            </a:r>
            <a:b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ru-RU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ru-RU" sz="32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9218" y="1844824"/>
            <a:ext cx="76328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 период нарушения запрета наступает какая-либо нестандартная ситуация, ведущая к смерти, вреду здоровья, утрате или повреждению имущества несовершеннолетнего, ответственность за него могут понести родители, как лица, обязанные в полной мере обеспечивать соблюдение подростком законов страны. Так, в результате возникновения подобных ситуаций опекуны могут быть оштрафованы на крупные суммы, помещены под арест, лишены родительских прав, а в самых тяжелых вариантах развития событий наступает уголовная ответственность.</a:t>
            </a:r>
          </a:p>
        </p:txBody>
      </p:sp>
    </p:spTree>
    <p:extLst>
      <p:ext uri="{BB962C8B-B14F-4D97-AF65-F5344CB8AC3E}">
        <p14:creationId xmlns:p14="http://schemas.microsoft.com/office/powerpoint/2010/main" val="3247660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EE2F4CC-2BC6-4399-AC0E-9D3D304A7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6279"/>
            <a:ext cx="8732609" cy="6723830"/>
          </a:xfrm>
        </p:spPr>
      </p:pic>
    </p:spTree>
    <p:extLst>
      <p:ext uri="{BB962C8B-B14F-4D97-AF65-F5344CB8AC3E}">
        <p14:creationId xmlns:p14="http://schemas.microsoft.com/office/powerpoint/2010/main" val="3135429850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76</TotalTime>
  <Words>666</Words>
  <Application>Microsoft Office PowerPoint</Application>
  <PresentationFormat>Экран (4:3)</PresentationFormat>
  <Paragraphs>36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Tw Cen MT</vt:lpstr>
      <vt:lpstr>Wingdings</vt:lpstr>
      <vt:lpstr>Капля</vt:lpstr>
      <vt:lpstr>Комендантский час</vt:lpstr>
      <vt:lpstr>Коменда́нтский час (запретное время)</vt:lpstr>
      <vt:lpstr>Презентация PowerPoint</vt:lpstr>
      <vt:lpstr>Требования:</vt:lpstr>
      <vt:lpstr>Требования:</vt:lpstr>
      <vt:lpstr>Комендантский час применительно  к несовершеннолетним </vt:lpstr>
      <vt:lpstr>Кто имеет право выступать в  качестве сопровождающих  </vt:lpstr>
      <vt:lpstr>Кто имеет право выступать  в качестве сопровождающих  </vt:lpstr>
      <vt:lpstr>За нарушение запрета  </vt:lpstr>
      <vt:lpstr>За нарушение запрета  </vt:lpstr>
      <vt:lpstr>За нарушение запрета 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Юлька</dc:creator>
  <cp:lastModifiedBy>Кутищева Екатерина</cp:lastModifiedBy>
  <cp:revision>7</cp:revision>
  <dcterms:created xsi:type="dcterms:W3CDTF">2020-05-11T22:15:54Z</dcterms:created>
  <dcterms:modified xsi:type="dcterms:W3CDTF">2025-12-05T03:14:52Z</dcterms:modified>
</cp:coreProperties>
</file>